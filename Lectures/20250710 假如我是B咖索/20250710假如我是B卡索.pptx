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Default Extension="mp4" ContentType="video/mp4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64" r:id="rId4"/>
    <p:sldId id="265" r:id="rId5"/>
    <p:sldId id="263" r:id="rId6"/>
    <p:sldId id="260" r:id="rId7"/>
    <p:sldId id="262" r:id="rId8"/>
    <p:sldId id="259" r:id="rId9"/>
    <p:sldId id="258" r:id="rId10"/>
    <p:sldId id="261" r:id="rId11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104BB5A-7DF9-47E9-946D-4A712B7271B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EF8B93A6-1993-ED6C-CFE9-4126F2AB610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666D1594-E4CD-2938-5F92-DE9E266FA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BE10F-7E00-43C7-B349-343C2CC36CC1}" type="datetimeFigureOut">
              <a:rPr lang="zh-TW" altLang="en-US" smtClean="0"/>
              <a:t>2025/7/10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EFC1C2B-618A-08B8-B3B4-4ECFB239E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CACD7D0-F23B-76B8-9BF1-A3185EBED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F5C3C-651D-4B0C-898A-D39A82EB2E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6155829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A1053BD-E37F-6053-A581-0CB4B9B586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CB0067FA-510D-4E86-F76C-974A04E23AD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D0BA497-049A-F1B3-10F4-FBB7DAF6BD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BE10F-7E00-43C7-B349-343C2CC36CC1}" type="datetimeFigureOut">
              <a:rPr lang="zh-TW" altLang="en-US" smtClean="0"/>
              <a:t>2025/7/10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0649B187-F61D-D302-6672-C8FB807F8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BE757919-751C-9C2A-8885-21114890F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F5C3C-651D-4B0C-898A-D39A82EB2E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124303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4D1BD48-BFA2-75DC-B77D-40F5B08502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65ACE62-FA6E-64DC-5837-1D7D80E958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F738C98-D1B5-693F-2792-87B1002E67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BE10F-7E00-43C7-B349-343C2CC36CC1}" type="datetimeFigureOut">
              <a:rPr lang="zh-TW" altLang="en-US" smtClean="0"/>
              <a:t>2025/7/10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B60757BE-D8C2-7823-B9E6-479A3B7726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F41CE18-027A-29DF-3BC8-D01277335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F5C3C-651D-4B0C-898A-D39A82EB2E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4846104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8A4E71-1A4D-4AA1-2B96-9967388501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1EA8F3D-C6C9-59D4-530F-187E389D62A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B3678AB5-832B-8983-4D0D-D124B87548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C50D7A8-8067-8EFA-5949-A887484987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BE10F-7E00-43C7-B349-343C2CC36CC1}" type="datetimeFigureOut">
              <a:rPr lang="zh-TW" altLang="en-US" smtClean="0"/>
              <a:t>2025/7/10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34FCD4B-DC05-A0E9-5536-BB3BC8E91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655564A-16A7-666E-0ED9-F72CDD4B5D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F5C3C-651D-4B0C-898A-D39A82EB2E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909733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6B2D1A0-5562-79FA-F66A-974F7B4077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68078D4C-7885-5442-2D13-08370F5635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324005D2-C9FC-EFB7-27FF-67E76BAF679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FCE0C2AA-4EB0-D0D9-C62C-16A0F3DEBA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A26C1CD4-FDE8-4B7F-30D5-1E7D9C3DB65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413E1F1C-465E-9573-D3BA-EBF4675D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BE10F-7E00-43C7-B349-343C2CC36CC1}" type="datetimeFigureOut">
              <a:rPr lang="zh-TW" altLang="en-US" smtClean="0"/>
              <a:t>2025/7/10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E2901A2F-40A0-9C20-AAF6-7E081772E0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3E48789F-2493-5D08-E937-625C0DAFE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F5C3C-651D-4B0C-898A-D39A82EB2E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024088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B765839-C200-011C-D3EA-95F562B9AA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88440039-1463-DEE4-1859-D4C12C1D3B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BE10F-7E00-43C7-B349-343C2CC36CC1}" type="datetimeFigureOut">
              <a:rPr lang="zh-TW" altLang="en-US" smtClean="0"/>
              <a:t>2025/7/10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F8056FCD-01E0-CF60-907C-FFBED99F91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62A85D7A-FED2-FC43-AAF3-1BF656F727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F5C3C-651D-4B0C-898A-D39A82EB2E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622015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B55F8606-371A-9113-9BF6-CB7C3FD538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BE10F-7E00-43C7-B349-343C2CC36CC1}" type="datetimeFigureOut">
              <a:rPr lang="zh-TW" altLang="en-US" smtClean="0"/>
              <a:t>2025/7/10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469704F0-1ADD-9B94-C859-FD072B93AB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1CA91087-2F16-3E8F-A46E-93866DA3E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F5C3C-651D-4B0C-898A-D39A82EB2E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70492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E2A2B74-1746-3009-59D2-16BA3E4DC9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372C46E-2BFC-790D-54A1-155D109685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6179AC4-D96A-AD2F-115F-EB8EE13E65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6EF6202-6DBB-5871-5CA7-78099D8E74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BE10F-7E00-43C7-B349-343C2CC36CC1}" type="datetimeFigureOut">
              <a:rPr lang="zh-TW" altLang="en-US" smtClean="0"/>
              <a:t>2025/7/10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90753D97-7311-C988-542B-66E00523D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A317D2B0-6F10-385F-01BF-B589382D79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F5C3C-651D-4B0C-898A-D39A82EB2E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60207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2D08966-4D04-0282-2B3D-8EA2D6C6A7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30ADF07D-E1FB-173C-38F1-7E4EA9128D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259EE02-B125-2B25-61AE-333E338A5B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9FA93D42-F5A6-3BF3-CB2B-EBB24FA9A1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BE10F-7E00-43C7-B349-343C2CC36CC1}" type="datetimeFigureOut">
              <a:rPr lang="zh-TW" altLang="en-US" smtClean="0"/>
              <a:t>2025/7/10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E3C20FA7-C87C-0638-9B68-C97C0E945C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0EC6F320-E06F-573A-80EF-7036CF257E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F5C3C-651D-4B0C-898A-D39A82EB2E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59812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F5F860E-71F0-31FB-5325-C7A86DDB5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349F517-AA19-B781-C63D-5ED690239C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5BF6F99-9B1E-FE8D-6689-66166E631D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BE10F-7E00-43C7-B349-343C2CC36CC1}" type="datetimeFigureOut">
              <a:rPr lang="zh-TW" altLang="en-US" smtClean="0"/>
              <a:t>2025/7/10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19F91DB-B665-68A3-CA5F-DC4C673EF5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1E1FF88-BA92-1A20-76CF-C89AED3775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F5C3C-651D-4B0C-898A-D39A82EB2E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8064066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35998FE-0E4D-6A35-783F-9BF4F78BB7C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773D452-8A13-B64F-86E0-436EFE55262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442BB4AE-6D55-5FAE-D823-03D3222CCA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BE10F-7E00-43C7-B349-343C2CC36CC1}" type="datetimeFigureOut">
              <a:rPr lang="zh-TW" altLang="en-US" smtClean="0"/>
              <a:t>2025/7/10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2CD82E18-0E5A-3E25-CD27-459D5C8CA5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A6F19126-B8B8-FEE0-1389-8941DE2EDE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5F5C3C-651D-4B0C-898A-D39A82EB2E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0542659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B7EFD64C-A0EA-168D-16CB-0FCB037990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86DB64C2-2571-3C2D-D19C-2D53A9EB1F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FBCD838-3E6A-E9F1-1A84-FC4686C9F7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5BE10F-7E00-43C7-B349-343C2CC36CC1}" type="datetimeFigureOut">
              <a:rPr lang="zh-TW" altLang="en-US" smtClean="0"/>
              <a:t>2025/7/10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793BFF7-EEF8-2E0F-BED5-3254F9FA3BD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FECF6E47-FE46-9863-BCE6-CCF85FA7ED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5F5C3C-651D-4B0C-898A-D39A82EB2EB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66636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msn.com/zh-tw/news/other/%E5%BE%9E%E5%9C%96%E7%89%87%E7%94%9F%E6%88%90%E5%88%B0%E7%94%A8ai%E5%AF%AB%E7%A8%8B%E5%BC%8F-openai%E5%89%96%E6%9E%90%E5%89%B5%E4%BD%9C%E8%88%87%E7%A8%8B%E5%BC%8F%E9%96%8B%E7%99%BC%E7%9A%84%E6%9C%AA%E4%BE%86/ar-AA1HNwMa?ocid=BingNewsVerp" TargetMode="Externa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llyasviel/Fooocus" TargetMode="External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7" Type="http://schemas.openxmlformats.org/officeDocument/2006/relationships/image" Target="../media/image11.png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6" Type="http://schemas.openxmlformats.org/officeDocument/2006/relationships/hyperlink" Target="https://tw.cyberlink.com/blog/photo-editing-tips/3034/ai-face-swap-tools" TargetMode="External"/><Relationship Id="rId5" Type="http://schemas.openxmlformats.org/officeDocument/2006/relationships/image" Target="../media/image10.png"/><Relationship Id="rId4" Type="http://schemas.openxmlformats.org/officeDocument/2006/relationships/image" Target="../media/image1.jp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Relationship Id="rId4" Type="http://schemas.openxmlformats.org/officeDocument/2006/relationships/hyperlink" Target="https://www.taisounds.com/news/content/97/100295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>
            <a:extLst>
              <a:ext uri="{FF2B5EF4-FFF2-40B4-BE49-F238E27FC236}">
                <a16:creationId xmlns:a16="http://schemas.microsoft.com/office/drawing/2014/main" id="{BD403FBD-FDA7-AB30-066D-1394DE1DBC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標題 1">
            <a:extLst>
              <a:ext uri="{FF2B5EF4-FFF2-40B4-BE49-F238E27FC236}">
                <a16:creationId xmlns:a16="http://schemas.microsoft.com/office/drawing/2014/main" id="{BC8C06E9-F027-9FCF-1800-DD57DB792F1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zh-TW" altLang="en-US" sz="5400" dirty="0" smtClean="0"/>
              <a:t>假如我是</a:t>
            </a:r>
            <a:r>
              <a:rPr lang="en-US" altLang="zh-TW" sz="5400" dirty="0" smtClean="0"/>
              <a:t>B</a:t>
            </a:r>
            <a:r>
              <a:rPr lang="zh-TW" altLang="en-US" sz="5400" dirty="0" smtClean="0"/>
              <a:t>卡索</a:t>
            </a:r>
            <a:endParaRPr lang="zh-TW" altLang="en-US" sz="5400" dirty="0"/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09C3FDA8-52F3-DD02-7158-FB2020A7AC1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en-US" altLang="zh-TW" sz="3200" dirty="0" err="1"/>
              <a:t>foocus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9637893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FE5EC3DA-82E3-7D1D-6F24-6A1B6983F28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02637" y="-167951"/>
            <a:ext cx="12192000" cy="6858000"/>
          </a:xfrm>
          <a:prstGeom prst="rect">
            <a:avLst/>
          </a:prstGeom>
        </p:spPr>
      </p:pic>
      <p:sp>
        <p:nvSpPr>
          <p:cNvPr id="4" name="標題 3">
            <a:extLst>
              <a:ext uri="{FF2B5EF4-FFF2-40B4-BE49-F238E27FC236}">
                <a16:creationId xmlns:a16="http://schemas.microsoft.com/office/drawing/2014/main" id="{08F3F67E-1D0D-DC7C-9004-907D66D895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從圖片生成到用</a:t>
            </a:r>
            <a:r>
              <a:rPr lang="en-US" altLang="zh-TW" dirty="0"/>
              <a:t>AI</a:t>
            </a:r>
            <a:r>
              <a:rPr lang="zh-TW" altLang="en-US" dirty="0"/>
              <a:t>寫程式 </a:t>
            </a:r>
            <a:r>
              <a:rPr lang="en-US" altLang="zh-TW" dirty="0"/>
              <a:t>OpenAI</a:t>
            </a:r>
            <a:r>
              <a:rPr lang="zh-TW" altLang="en-US" dirty="0"/>
              <a:t>剖析創作與程式開發的未來</a:t>
            </a: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33576EF6-0F0E-1822-14F8-41870B61A82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5709" y="1690688"/>
            <a:ext cx="5630292" cy="4549135"/>
          </a:xfrm>
          <a:prstGeom prst="rect">
            <a:avLst/>
          </a:prstGeom>
        </p:spPr>
      </p:pic>
      <p:sp>
        <p:nvSpPr>
          <p:cNvPr id="11" name="文字方塊 10">
            <a:extLst>
              <a:ext uri="{FF2B5EF4-FFF2-40B4-BE49-F238E27FC236}">
                <a16:creationId xmlns:a16="http://schemas.microsoft.com/office/drawing/2014/main" id="{C9E85AEB-7640-B7CB-D42D-2083F0B62306}"/>
              </a:ext>
            </a:extLst>
          </p:cNvPr>
          <p:cNvSpPr txBox="1"/>
          <p:nvPr/>
        </p:nvSpPr>
        <p:spPr>
          <a:xfrm>
            <a:off x="6194323" y="1690688"/>
            <a:ext cx="355927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>
                <a:hlinkClick r:id="rId4"/>
              </a:rPr>
              <a:t>從圖片生成到用</a:t>
            </a:r>
            <a:r>
              <a:rPr lang="en-US" altLang="zh-TW" dirty="0">
                <a:hlinkClick r:id="rId4"/>
              </a:rPr>
              <a:t>AI</a:t>
            </a:r>
            <a:r>
              <a:rPr lang="zh-TW" altLang="en-US" dirty="0">
                <a:hlinkClick r:id="rId4"/>
              </a:rPr>
              <a:t>寫程式 </a:t>
            </a:r>
            <a:r>
              <a:rPr lang="en-US" altLang="zh-TW" dirty="0">
                <a:hlinkClick r:id="rId4"/>
              </a:rPr>
              <a:t>OpenAI</a:t>
            </a:r>
            <a:r>
              <a:rPr lang="zh-TW" altLang="en-US" dirty="0">
                <a:hlinkClick r:id="rId4"/>
              </a:rPr>
              <a:t>剖析創作與程式開發的未來</a:t>
            </a:r>
            <a:endParaRPr lang="en-US" altLang="zh-TW" dirty="0"/>
          </a:p>
        </p:txBody>
      </p:sp>
      <p:sp>
        <p:nvSpPr>
          <p:cNvPr id="14" name="文字方塊 13">
            <a:extLst>
              <a:ext uri="{FF2B5EF4-FFF2-40B4-BE49-F238E27FC236}">
                <a16:creationId xmlns:a16="http://schemas.microsoft.com/office/drawing/2014/main" id="{313BF051-6A26-E441-552D-A0CD5AB0AABB}"/>
              </a:ext>
            </a:extLst>
          </p:cNvPr>
          <p:cNvSpPr txBox="1"/>
          <p:nvPr/>
        </p:nvSpPr>
        <p:spPr>
          <a:xfrm>
            <a:off x="6194323" y="2337019"/>
            <a:ext cx="5646224" cy="3447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zh-TW" altLang="en-US" sz="2800" dirty="0"/>
              <a:t>文字如何生成文字</a:t>
            </a:r>
            <a:r>
              <a:rPr kumimoji="1" lang="zh-TW" altLang="en-US" sz="2800" dirty="0" smtClean="0"/>
              <a:t>？</a:t>
            </a:r>
            <a:endParaRPr kumimoji="1" lang="en-US" altLang="zh-TW" sz="2800" dirty="0" smtClean="0"/>
          </a:p>
          <a:p>
            <a:r>
              <a:rPr kumimoji="1" lang="zh-TW" altLang="en-US" dirty="0"/>
              <a:t>之前介紹的</a:t>
            </a:r>
            <a:r>
              <a:rPr kumimoji="1" lang="en-US" altLang="zh-TW" dirty="0"/>
              <a:t>NLP</a:t>
            </a:r>
            <a:r>
              <a:rPr kumimoji="1" lang="zh-TW" altLang="en-US" dirty="0"/>
              <a:t>：</a:t>
            </a:r>
            <a:endParaRPr kumimoji="1" lang="en-US" altLang="zh-TW" dirty="0"/>
          </a:p>
          <a:p>
            <a:pPr marL="971550" lvl="1" indent="-514350">
              <a:buFont typeface="+mj-lt"/>
              <a:buAutoNum type="arabicPeriod"/>
            </a:pPr>
            <a:r>
              <a:rPr kumimoji="1" lang="zh-TW" altLang="en-US" dirty="0"/>
              <a:t>接收輸入：</a:t>
            </a:r>
            <a:r>
              <a:rPr kumimoji="1" lang="en-US" altLang="zh-TW" dirty="0"/>
              <a:t>AI </a:t>
            </a:r>
            <a:r>
              <a:rPr kumimoji="1" lang="zh-TW" altLang="en-US" dirty="0"/>
              <a:t>讀取用戶輸入的文字。</a:t>
            </a:r>
          </a:p>
          <a:p>
            <a:pPr marL="971550" lvl="1" indent="-514350">
              <a:buFont typeface="+mj-lt"/>
              <a:buAutoNum type="arabicPeriod"/>
            </a:pPr>
            <a:r>
              <a:rPr kumimoji="1" lang="zh-TW" altLang="en-US" dirty="0"/>
              <a:t>理解語意：分析輸入內容，理解上下文和意圖。</a:t>
            </a:r>
          </a:p>
          <a:p>
            <a:pPr marL="971550" lvl="1" indent="-514350">
              <a:buFont typeface="+mj-lt"/>
              <a:buAutoNum type="arabicPeriod"/>
            </a:pPr>
            <a:r>
              <a:rPr kumimoji="1" lang="zh-TW" altLang="en-US" dirty="0"/>
              <a:t>語言模型運算：根據大量語料訓練的模型，預測下一個最合適的詞語，逐步生成句子。</a:t>
            </a:r>
          </a:p>
          <a:p>
            <a:pPr marL="971550" lvl="1" indent="-514350">
              <a:buFont typeface="+mj-lt"/>
              <a:buAutoNum type="arabicPeriod"/>
            </a:pPr>
            <a:r>
              <a:rPr kumimoji="1" lang="zh-TW" altLang="en-US" dirty="0"/>
              <a:t>生成輸出：將預測結果配合參數（人設、溫度、</a:t>
            </a:r>
            <a:r>
              <a:rPr kumimoji="1" lang="en-US" altLang="zh-TW" dirty="0"/>
              <a:t>Top-P</a:t>
            </a:r>
            <a:r>
              <a:rPr kumimoji="1" lang="zh-TW" altLang="en-US" dirty="0"/>
              <a:t>、</a:t>
            </a:r>
            <a:r>
              <a:rPr kumimoji="1" lang="en-US" altLang="zh-TW" dirty="0"/>
              <a:t>Top-K</a:t>
            </a:r>
            <a:r>
              <a:rPr kumimoji="1" lang="zh-TW" altLang="en-US" dirty="0"/>
              <a:t>）組合成連貫的文字，回應使用者。</a:t>
            </a:r>
          </a:p>
          <a:p>
            <a:endParaRPr lang="zh-TW" altLang="en-US" sz="2800" dirty="0"/>
          </a:p>
        </p:txBody>
      </p:sp>
    </p:spTree>
    <p:extLst>
      <p:ext uri="{BB962C8B-B14F-4D97-AF65-F5344CB8AC3E}">
        <p14:creationId xmlns:p14="http://schemas.microsoft.com/office/powerpoint/2010/main" val="25036891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D403FBD-FDA7-AB30-066D-1394DE1DBC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/>
              <a:t>那麼，文字要如何生成圖片？</a:t>
            </a:r>
          </a:p>
        </p:txBody>
      </p:sp>
      <p:sp>
        <p:nvSpPr>
          <p:cNvPr id="4" name="矩形 3"/>
          <p:cNvSpPr/>
          <p:nvPr/>
        </p:nvSpPr>
        <p:spPr>
          <a:xfrm>
            <a:off x="612711" y="1623155"/>
            <a:ext cx="4556448" cy="36933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742950" indent="-742950">
              <a:buFont typeface="+mj-lt"/>
              <a:buAutoNum type="arabicPeriod"/>
            </a:pPr>
            <a:r>
              <a:rPr kumimoji="1" lang="zh-TW" altLang="en-US" dirty="0"/>
              <a:t>接收輸入：描述性文字，指定主題、風格、細節。</a:t>
            </a:r>
          </a:p>
          <a:p>
            <a:pPr marL="742950" indent="-742950">
              <a:buFont typeface="+mj-lt"/>
              <a:buAutoNum type="arabicPeriod"/>
            </a:pPr>
            <a:r>
              <a:rPr kumimoji="1" lang="zh-TW" altLang="en-US" dirty="0"/>
              <a:t>文字編碼：將文字轉為語意向量，供模型理解</a:t>
            </a:r>
            <a:endParaRPr kumimoji="1" lang="en-US" altLang="zh-TW" dirty="0"/>
          </a:p>
          <a:p>
            <a:pPr marL="742950" indent="-742950">
              <a:buFont typeface="+mj-lt"/>
              <a:buAutoNum type="arabicPeriod"/>
            </a:pPr>
            <a:r>
              <a:rPr kumimoji="1" lang="zh-TW" altLang="en-US" dirty="0"/>
              <a:t>噪聲初始化：隨機噪聲圖作為生成起點</a:t>
            </a:r>
            <a:endParaRPr kumimoji="1" lang="en-US" altLang="zh-TW" dirty="0"/>
          </a:p>
          <a:p>
            <a:pPr marL="742950" indent="-742950">
              <a:buFont typeface="+mj-lt"/>
              <a:buAutoNum type="arabicPeriod"/>
            </a:pPr>
            <a:r>
              <a:rPr kumimoji="1" lang="zh-TW" altLang="en-US" dirty="0"/>
              <a:t>潛在空間運算：根據提示詞逐步去噪，生成潛在空間的圖像</a:t>
            </a:r>
            <a:endParaRPr kumimoji="1" lang="en-US" altLang="zh-TW" dirty="0"/>
          </a:p>
          <a:p>
            <a:pPr marL="742950" indent="-742950">
              <a:buFont typeface="+mj-lt"/>
              <a:buAutoNum type="arabicPeriod"/>
            </a:pPr>
            <a:r>
              <a:rPr kumimoji="1" lang="zh-TW" altLang="en-US" dirty="0"/>
              <a:t>解碼還原：將潛在向量解碼成高解析度圖片</a:t>
            </a:r>
            <a:endParaRPr kumimoji="1" lang="en-US" altLang="zh-TW" dirty="0"/>
          </a:p>
          <a:p>
            <a:pPr marL="742950" indent="-742950">
              <a:buFont typeface="+mj-lt"/>
              <a:buAutoNum type="arabicPeriod"/>
            </a:pPr>
            <a:r>
              <a:rPr kumimoji="1" lang="zh-TW" altLang="en-US" dirty="0"/>
              <a:t>參數調整：步數、風格、解析度、權重等，優化生成結果</a:t>
            </a:r>
            <a:endParaRPr kumimoji="1" lang="en-US" altLang="zh-TW" dirty="0"/>
          </a:p>
          <a:p>
            <a:pPr marL="742950" indent="-742950">
              <a:buFont typeface="+mj-lt"/>
              <a:buAutoNum type="arabicPeriod"/>
            </a:pPr>
            <a:r>
              <a:rPr kumimoji="1" lang="zh-TW" altLang="en-US" dirty="0"/>
              <a:t>生成圖像</a:t>
            </a:r>
            <a:endParaRPr kumimoji="1" lang="zh-TW" altLang="en-US" dirty="0"/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4B3097B-28CC-E06F-9608-7B2CF89B5C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675" t="18466" r="15162"/>
          <a:stretch>
            <a:fillRect/>
          </a:stretch>
        </p:blipFill>
        <p:spPr bwMode="auto">
          <a:xfrm>
            <a:off x="5169159" y="1327912"/>
            <a:ext cx="6656833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525772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BD403FBD-FDA7-AB30-066D-1394DE1DBC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 dirty="0"/>
              <a:t>先從初始圖找出輪廓，再慢慢的像著色一樣填補內容（加上噪點）</a:t>
            </a:r>
            <a:endParaRPr lang="zh-TW" altLang="en-US" dirty="0"/>
          </a:p>
        </p:txBody>
      </p:sp>
      <p:grpSp>
        <p:nvGrpSpPr>
          <p:cNvPr id="3" name="群組 2">
            <a:extLst>
              <a:ext uri="{FF2B5EF4-FFF2-40B4-BE49-F238E27FC236}">
                <a16:creationId xmlns:a16="http://schemas.microsoft.com/office/drawing/2014/main" id="{96123C58-4A27-F749-C52A-15CC2D54E2DC}"/>
              </a:ext>
            </a:extLst>
          </p:cNvPr>
          <p:cNvGrpSpPr/>
          <p:nvPr/>
        </p:nvGrpSpPr>
        <p:grpSpPr>
          <a:xfrm>
            <a:off x="996681" y="2055813"/>
            <a:ext cx="10198637" cy="3168833"/>
            <a:chOff x="271670" y="2705873"/>
            <a:chExt cx="9147903" cy="2615804"/>
          </a:xfrm>
        </p:grpSpPr>
        <p:pic>
          <p:nvPicPr>
            <p:cNvPr id="4" name="圖片 3">
              <a:extLst>
                <a:ext uri="{FF2B5EF4-FFF2-40B4-BE49-F238E27FC236}">
                  <a16:creationId xmlns:a16="http://schemas.microsoft.com/office/drawing/2014/main" id="{E15CF93B-6712-AEFE-08F8-6E34627C82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71670" y="2705873"/>
              <a:ext cx="5387190" cy="2590842"/>
            </a:xfrm>
            <a:prstGeom prst="rect">
              <a:avLst/>
            </a:prstGeom>
          </p:spPr>
        </p:pic>
        <p:pic>
          <p:nvPicPr>
            <p:cNvPr id="5" name="圖片 4">
              <a:extLst>
                <a:ext uri="{FF2B5EF4-FFF2-40B4-BE49-F238E27FC236}">
                  <a16:creationId xmlns:a16="http://schemas.microsoft.com/office/drawing/2014/main" id="{C85FF566-0E03-9C3D-A948-55D5FDAF871A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621282" y="2705873"/>
              <a:ext cx="3798291" cy="2615804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4172055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BD403FBD-FDA7-AB30-066D-1394DE1DBC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altLang="zh-TW" sz="3600" dirty="0" err="1"/>
              <a:t>Fooocus</a:t>
            </a:r>
            <a:r>
              <a:rPr lang="zh-TW" altLang="en-US" sz="3600" dirty="0" smtClean="0"/>
              <a:t>是甚麼</a:t>
            </a:r>
            <a:r>
              <a:rPr lang="en-US" altLang="zh-TW" sz="3600" dirty="0" smtClean="0"/>
              <a:t>?</a:t>
            </a:r>
            <a:endParaRPr lang="zh-TW" altLang="en-US" sz="3600" dirty="0"/>
          </a:p>
        </p:txBody>
      </p:sp>
      <p:sp>
        <p:nvSpPr>
          <p:cNvPr id="5" name="文字方塊 4"/>
          <p:cNvSpPr txBox="1"/>
          <p:nvPr/>
        </p:nvSpPr>
        <p:spPr>
          <a:xfrm>
            <a:off x="838200" y="1296955"/>
            <a:ext cx="11132976" cy="53245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 err="1"/>
              <a:t>Fooocus</a:t>
            </a:r>
            <a:r>
              <a:rPr lang="en-US" altLang="zh-TW" sz="2000" b="1" dirty="0"/>
              <a:t> </a:t>
            </a:r>
            <a:r>
              <a:rPr lang="zh-TW" altLang="en-US" sz="2000" b="1" dirty="0"/>
              <a:t>是一款開源的生成式人工智慧（</a:t>
            </a:r>
            <a:r>
              <a:rPr lang="en-US" altLang="zh-TW" sz="2000" b="1" dirty="0"/>
              <a:t>Generative AI</a:t>
            </a:r>
            <a:r>
              <a:rPr lang="zh-TW" altLang="en-US" sz="2000" b="1" dirty="0"/>
              <a:t>）圖像生成軟體，能根據文字提示快速生成圖片 </a:t>
            </a:r>
            <a:r>
              <a:rPr lang="en-US" altLang="zh-TW" sz="2000" b="1" dirty="0"/>
              <a:t>(Text to Image, </a:t>
            </a:r>
            <a:r>
              <a:rPr lang="zh-TW" altLang="en-US" sz="2000" b="1" dirty="0"/>
              <a:t>沒有完善的中文輸入支援，建議以英文提示詞生成圖片</a:t>
            </a:r>
            <a:r>
              <a:rPr lang="en-US" altLang="zh-TW" sz="2000" b="1" dirty="0"/>
              <a:t>)</a:t>
            </a:r>
            <a:r>
              <a:rPr lang="zh-TW" altLang="en-US" sz="2000" b="1" dirty="0"/>
              <a:t>。它以 </a:t>
            </a:r>
            <a:r>
              <a:rPr lang="en-US" altLang="zh-TW" sz="2000" b="1" dirty="0"/>
              <a:t>Stable Diffusion XL </a:t>
            </a:r>
            <a:r>
              <a:rPr lang="zh-TW" altLang="en-US" sz="2000" b="1" dirty="0"/>
              <a:t>為核心模型，並內建多種預設參數與提示詞，讓使用者無需繁瑣設定即可獲得理想的圖像結果。</a:t>
            </a:r>
          </a:p>
          <a:p>
            <a:endParaRPr lang="zh-TW" altLang="en-US" sz="2000" b="1" dirty="0"/>
          </a:p>
          <a:p>
            <a:r>
              <a:rPr lang="zh-TW" altLang="en-US" sz="2000" b="1" dirty="0"/>
              <a:t>主要特色：</a:t>
            </a:r>
          </a:p>
          <a:p>
            <a:r>
              <a:rPr lang="zh-TW" altLang="en-US" sz="2000" b="1" dirty="0"/>
              <a:t>易於安裝與使用：</a:t>
            </a:r>
            <a:r>
              <a:rPr lang="en-US" altLang="zh-TW" sz="2000" b="1" dirty="0" err="1"/>
              <a:t>Fooocus</a:t>
            </a:r>
            <a:r>
              <a:rPr lang="en-US" altLang="zh-TW" sz="2000" b="1" dirty="0"/>
              <a:t> </a:t>
            </a:r>
            <a:r>
              <a:rPr lang="zh-TW" altLang="en-US" sz="2000" b="1" dirty="0"/>
              <a:t>強調「開箱即用」，不需手動調整複雜的模型參數。</a:t>
            </a:r>
          </a:p>
          <a:p>
            <a:r>
              <a:rPr lang="zh-TW" altLang="en-US" sz="2000" b="1" dirty="0"/>
              <a:t>自動提示優化：內建 </a:t>
            </a:r>
            <a:r>
              <a:rPr lang="en-US" altLang="zh-TW" sz="2000" b="1" dirty="0"/>
              <a:t>GPT-2</a:t>
            </a:r>
            <a:r>
              <a:rPr lang="zh-TW" altLang="en-US" sz="2000" b="1" dirty="0"/>
              <a:t>，可自動為用戶的提示詞增添細節，提高生成圖像的品質。</a:t>
            </a:r>
          </a:p>
          <a:p>
            <a:r>
              <a:rPr lang="zh-TW" altLang="en-US" sz="2000" b="1" dirty="0"/>
              <a:t>預設攝影風格：預設偏好攝影寫實風格，並提供多種風格選擇。</a:t>
            </a:r>
          </a:p>
          <a:p>
            <a:r>
              <a:rPr lang="en-US" altLang="zh-TW" sz="2000" b="1" dirty="0" err="1"/>
              <a:t>Gradio</a:t>
            </a:r>
            <a:r>
              <a:rPr lang="en-US" altLang="zh-TW" sz="2000" b="1" dirty="0"/>
              <a:t> </a:t>
            </a:r>
            <a:r>
              <a:rPr lang="zh-TW" altLang="en-US" sz="2000" b="1" dirty="0"/>
              <a:t>介面：採用 </a:t>
            </a:r>
            <a:r>
              <a:rPr lang="en-US" altLang="zh-TW" sz="2000" b="1" dirty="0" err="1"/>
              <a:t>Gradio</a:t>
            </a:r>
            <a:r>
              <a:rPr lang="en-US" altLang="zh-TW" sz="2000" b="1" dirty="0"/>
              <a:t> </a:t>
            </a:r>
            <a:r>
              <a:rPr lang="zh-TW" altLang="en-US" sz="2000" b="1" dirty="0"/>
              <a:t>為基礎的網頁介面，操作直覺。</a:t>
            </a:r>
          </a:p>
          <a:p>
            <a:r>
              <a:rPr lang="zh-TW" altLang="en-US" sz="2000" b="1" dirty="0"/>
              <a:t>高效擴展：內建 </a:t>
            </a:r>
            <a:r>
              <a:rPr lang="en-US" altLang="zh-TW" sz="2000" b="1" dirty="0"/>
              <a:t>LCM</a:t>
            </a:r>
            <a:r>
              <a:rPr lang="zh-TW" altLang="en-US" sz="2000" b="1" dirty="0"/>
              <a:t>（</a:t>
            </a:r>
            <a:r>
              <a:rPr lang="en-US" altLang="zh-TW" sz="2000" b="1" dirty="0"/>
              <a:t>Low-rank adaptation</a:t>
            </a:r>
            <a:r>
              <a:rPr lang="zh-TW" altLang="en-US" sz="2000" b="1" dirty="0"/>
              <a:t>）等常用擴展，提升生成速度。</a:t>
            </a:r>
          </a:p>
          <a:p>
            <a:r>
              <a:rPr lang="zh-TW" altLang="en-US" sz="2000" b="1" dirty="0"/>
              <a:t>進階自訂：提供進階選項，方便有經驗的用戶進行細部調整。</a:t>
            </a:r>
          </a:p>
          <a:p>
            <a:r>
              <a:rPr lang="en-US" altLang="zh-TW" sz="2000" b="1" dirty="0"/>
              <a:t>API </a:t>
            </a:r>
            <a:r>
              <a:rPr lang="zh-TW" altLang="en-US" sz="2000" b="1" dirty="0"/>
              <a:t>支援：可透過 </a:t>
            </a:r>
            <a:r>
              <a:rPr lang="en-US" altLang="zh-TW" sz="2000" b="1" dirty="0"/>
              <a:t>API </a:t>
            </a:r>
            <a:r>
              <a:rPr lang="zh-TW" altLang="en-US" sz="2000" b="1" dirty="0"/>
              <a:t>整合至其他軟體或自動化流程，適合開發者與企業應用。</a:t>
            </a:r>
          </a:p>
          <a:p>
            <a:r>
              <a:rPr lang="zh-TW" altLang="en-US" sz="2000" b="1" dirty="0"/>
              <a:t>開發背景：</a:t>
            </a:r>
          </a:p>
          <a:p>
            <a:r>
              <a:rPr lang="zh-TW" altLang="en-US" sz="2000" b="1" dirty="0"/>
              <a:t>由 </a:t>
            </a:r>
            <a:r>
              <a:rPr lang="en-US" altLang="zh-TW" sz="2000" b="1" dirty="0"/>
              <a:t>Stanford </a:t>
            </a:r>
            <a:r>
              <a:rPr lang="zh-TW" altLang="en-US" sz="2000" b="1" dirty="0"/>
              <a:t>博士生 </a:t>
            </a:r>
            <a:r>
              <a:rPr lang="en-US" altLang="zh-TW" sz="2000" b="1" dirty="0" err="1"/>
              <a:t>Lvmin</a:t>
            </a:r>
            <a:r>
              <a:rPr lang="en-US" altLang="zh-TW" sz="2000" b="1" dirty="0"/>
              <a:t> Zhang </a:t>
            </a:r>
            <a:r>
              <a:rPr lang="zh-TW" altLang="en-US" sz="2000" b="1" dirty="0"/>
              <a:t>開發，他同時也是 </a:t>
            </a:r>
            <a:r>
              <a:rPr lang="en-US" altLang="zh-TW" sz="2000" b="1" dirty="0"/>
              <a:t>ControlNet </a:t>
            </a:r>
            <a:r>
              <a:rPr lang="zh-TW" altLang="en-US" sz="2000" b="1" dirty="0"/>
              <a:t>的主要作者。</a:t>
            </a:r>
          </a:p>
          <a:p>
            <a:r>
              <a:rPr lang="en-US" altLang="zh-TW" sz="2000" b="1" dirty="0" err="1"/>
              <a:t>Fooocus</a:t>
            </a:r>
            <a:r>
              <a:rPr lang="en-US" altLang="zh-TW" sz="2000" b="1" dirty="0"/>
              <a:t> </a:t>
            </a:r>
            <a:r>
              <a:rPr lang="zh-TW" altLang="en-US" sz="2000" b="1" dirty="0"/>
              <a:t>受到 </a:t>
            </a:r>
            <a:r>
              <a:rPr lang="en-US" altLang="zh-TW" sz="2000" b="1" dirty="0"/>
              <a:t>Stable Diffusion </a:t>
            </a:r>
            <a:r>
              <a:rPr lang="zh-TW" altLang="en-US" sz="2000" b="1" dirty="0"/>
              <a:t>與 </a:t>
            </a:r>
            <a:r>
              <a:rPr lang="en-US" altLang="zh-TW" sz="2000" b="1" dirty="0" err="1"/>
              <a:t>Midjourney</a:t>
            </a:r>
            <a:r>
              <a:rPr lang="en-US" altLang="zh-TW" sz="2000" b="1" dirty="0"/>
              <a:t> </a:t>
            </a:r>
            <a:r>
              <a:rPr lang="zh-TW" altLang="en-US" sz="2000" b="1" dirty="0"/>
              <a:t>的設計理念啟發，並強調用戶友善與自動化。</a:t>
            </a:r>
          </a:p>
          <a:p>
            <a:r>
              <a:rPr lang="zh-TW" altLang="en-US" sz="2000" b="1" dirty="0"/>
              <a:t>應用場景：</a:t>
            </a:r>
          </a:p>
          <a:p>
            <a:r>
              <a:rPr lang="zh-TW" altLang="en-US" sz="2000" b="1" dirty="0"/>
              <a:t>藝術創作、廣告設計、遊戲美術、內容生成等，任何需要快速生成高品質圖片的場合。</a:t>
            </a:r>
          </a:p>
        </p:txBody>
      </p:sp>
    </p:spTree>
    <p:extLst>
      <p:ext uri="{BB962C8B-B14F-4D97-AF65-F5344CB8AC3E}">
        <p14:creationId xmlns:p14="http://schemas.microsoft.com/office/powerpoint/2010/main" val="254113123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EB8487-D72B-871D-64B8-4596321283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A411F57-41E4-48CA-F51E-660C3D0D4F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標題 3">
            <a:extLst>
              <a:ext uri="{FF2B5EF4-FFF2-40B4-BE49-F238E27FC236}">
                <a16:creationId xmlns:a16="http://schemas.microsoft.com/office/drawing/2014/main" id="{F8DFAF77-D001-1A88-823A-D0E103596E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/>
              <a:t>怎麼生成影像</a:t>
            </a:r>
            <a:r>
              <a:rPr lang="en-US" altLang="zh-TW" dirty="0"/>
              <a:t>?</a:t>
            </a:r>
            <a:endParaRPr lang="zh-TW" altLang="en-US" dirty="0"/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80AD2319-C0ED-E263-48EC-8B6A13271A8A}"/>
              </a:ext>
            </a:extLst>
          </p:cNvPr>
          <p:cNvSpPr txBox="1"/>
          <p:nvPr/>
        </p:nvSpPr>
        <p:spPr>
          <a:xfrm>
            <a:off x="737418" y="1686480"/>
            <a:ext cx="1044185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TW" sz="2800" dirty="0">
                <a:hlinkClick r:id="rId3"/>
              </a:rPr>
              <a:t>GitHub - </a:t>
            </a:r>
            <a:r>
              <a:rPr lang="en-US" altLang="zh-TW" sz="2800" dirty="0" err="1">
                <a:hlinkClick r:id="rId3"/>
              </a:rPr>
              <a:t>lllyasviel</a:t>
            </a:r>
            <a:r>
              <a:rPr lang="en-US" altLang="zh-TW" sz="2800" dirty="0">
                <a:hlinkClick r:id="rId3"/>
              </a:rPr>
              <a:t>/</a:t>
            </a:r>
            <a:r>
              <a:rPr lang="en-US" altLang="zh-TW" sz="2800" dirty="0" err="1">
                <a:hlinkClick r:id="rId3"/>
              </a:rPr>
              <a:t>Fooocus</a:t>
            </a:r>
            <a:r>
              <a:rPr lang="en-US" altLang="zh-TW" sz="2800" dirty="0">
                <a:hlinkClick r:id="rId3"/>
              </a:rPr>
              <a:t>: Focus on prompting and generating</a:t>
            </a:r>
            <a:endParaRPr lang="zh-TW" altLang="en-US" sz="2800" dirty="0"/>
          </a:p>
        </p:txBody>
      </p:sp>
      <p:pic>
        <p:nvPicPr>
          <p:cNvPr id="7" name="圖片 6">
            <a:extLst>
              <a:ext uri="{FF2B5EF4-FFF2-40B4-BE49-F238E27FC236}">
                <a16:creationId xmlns:a16="http://schemas.microsoft.com/office/drawing/2014/main" id="{C6F8BEC5-60BD-F650-DA6C-12539AC2B4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7727" y="2235780"/>
            <a:ext cx="5646763" cy="2344916"/>
          </a:xfrm>
          <a:prstGeom prst="rect">
            <a:avLst/>
          </a:prstGeom>
        </p:spPr>
      </p:pic>
      <p:pic>
        <p:nvPicPr>
          <p:cNvPr id="9" name="圖片 8">
            <a:extLst>
              <a:ext uri="{FF2B5EF4-FFF2-40B4-BE49-F238E27FC236}">
                <a16:creationId xmlns:a16="http://schemas.microsoft.com/office/drawing/2014/main" id="{CD2D72D6-6094-1956-35BA-384667C8364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7727" y="4606776"/>
            <a:ext cx="5420620" cy="1940373"/>
          </a:xfrm>
          <a:prstGeom prst="rect">
            <a:avLst/>
          </a:prstGeom>
        </p:spPr>
      </p:pic>
      <p:sp>
        <p:nvSpPr>
          <p:cNvPr id="10" name="箭號: 向下 9">
            <a:extLst>
              <a:ext uri="{FF2B5EF4-FFF2-40B4-BE49-F238E27FC236}">
                <a16:creationId xmlns:a16="http://schemas.microsoft.com/office/drawing/2014/main" id="{CD87BD7F-8492-1696-1622-CF403751AF46}"/>
              </a:ext>
            </a:extLst>
          </p:cNvPr>
          <p:cNvSpPr/>
          <p:nvPr/>
        </p:nvSpPr>
        <p:spPr>
          <a:xfrm rot="3345587">
            <a:off x="2182762" y="4709217"/>
            <a:ext cx="943897" cy="1435262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1" name="文字方塊 10">
            <a:extLst>
              <a:ext uri="{FF2B5EF4-FFF2-40B4-BE49-F238E27FC236}">
                <a16:creationId xmlns:a16="http://schemas.microsoft.com/office/drawing/2014/main" id="{4D179C54-F1C0-5905-0D06-739509EDA460}"/>
              </a:ext>
            </a:extLst>
          </p:cNvPr>
          <p:cNvSpPr txBox="1"/>
          <p:nvPr/>
        </p:nvSpPr>
        <p:spPr>
          <a:xfrm>
            <a:off x="3244644" y="4709855"/>
            <a:ext cx="27137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rgbClr val="FF0000"/>
                </a:solidFill>
              </a:rPr>
              <a:t>往下滑就會找到喽</a:t>
            </a:r>
          </a:p>
        </p:txBody>
      </p:sp>
      <p:pic>
        <p:nvPicPr>
          <p:cNvPr id="15" name="圖片 14">
            <a:extLst>
              <a:ext uri="{FF2B5EF4-FFF2-40B4-BE49-F238E27FC236}">
                <a16:creationId xmlns:a16="http://schemas.microsoft.com/office/drawing/2014/main" id="{F539BEA0-BC9D-B8B6-D052-24B47D856123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58347" y="3758818"/>
            <a:ext cx="5963482" cy="2734057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90718223-6A53-8680-1A8F-631B38BEC07B}"/>
              </a:ext>
            </a:extLst>
          </p:cNvPr>
          <p:cNvSpPr txBox="1"/>
          <p:nvPr/>
        </p:nvSpPr>
        <p:spPr>
          <a:xfrm>
            <a:off x="6902245" y="2868349"/>
            <a:ext cx="389357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rgbClr val="FF0000"/>
                </a:solidFill>
              </a:rPr>
              <a:t>記得要存成副本喔</a:t>
            </a:r>
          </a:p>
        </p:txBody>
      </p:sp>
    </p:spTree>
    <p:extLst>
      <p:ext uri="{BB962C8B-B14F-4D97-AF65-F5344CB8AC3E}">
        <p14:creationId xmlns:p14="http://schemas.microsoft.com/office/powerpoint/2010/main" val="33756992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790B3-ED45-FC4B-3448-9A5B3A3218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8BAA9941-F6EE-410F-31DC-6208552F21F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標題 3">
            <a:extLst>
              <a:ext uri="{FF2B5EF4-FFF2-40B4-BE49-F238E27FC236}">
                <a16:creationId xmlns:a16="http://schemas.microsoft.com/office/drawing/2014/main" id="{84320221-6F18-E925-859A-BACDED2F27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/>
              <a:t>提示字元是甚麼</a:t>
            </a:r>
            <a:r>
              <a:rPr lang="en-US" altLang="zh-TW" dirty="0"/>
              <a:t>?</a:t>
            </a:r>
            <a:endParaRPr lang="zh-TW" altLang="en-US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6143" y="1623527"/>
            <a:ext cx="7370273" cy="489445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494522" y="4954555"/>
            <a:ext cx="5924939" cy="59715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cxnSp>
        <p:nvCxnSpPr>
          <p:cNvPr id="7" name="直線單箭頭接點 6"/>
          <p:cNvCxnSpPr/>
          <p:nvPr/>
        </p:nvCxnSpPr>
        <p:spPr>
          <a:xfrm flipH="1">
            <a:off x="6195527" y="4544008"/>
            <a:ext cx="2379306" cy="578498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文字方塊 7"/>
          <p:cNvSpPr txBox="1"/>
          <p:nvPr/>
        </p:nvSpPr>
        <p:spPr>
          <a:xfrm>
            <a:off x="8834534" y="3909927"/>
            <a:ext cx="25192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b="1" dirty="0" smtClean="0">
                <a:solidFill>
                  <a:srgbClr val="FF0000"/>
                </a:solidFill>
              </a:rPr>
              <a:t>這格就是提示字元</a:t>
            </a:r>
            <a:endParaRPr lang="en-US" altLang="zh-TW" b="1" dirty="0" smtClean="0">
              <a:solidFill>
                <a:srgbClr val="FF0000"/>
              </a:solidFill>
            </a:endParaRPr>
          </a:p>
          <a:p>
            <a:r>
              <a:rPr lang="zh-TW" altLang="en-US" b="1" dirty="0" smtClean="0">
                <a:solidFill>
                  <a:srgbClr val="FF0000"/>
                </a:solidFill>
              </a:rPr>
              <a:t>用於描述你的需求</a:t>
            </a:r>
            <a:endParaRPr lang="en-US" altLang="zh-TW" b="1" dirty="0" smtClean="0">
              <a:solidFill>
                <a:srgbClr val="FF0000"/>
              </a:solidFill>
            </a:endParaRPr>
          </a:p>
          <a:p>
            <a:r>
              <a:rPr lang="zh-TW" altLang="en-US" b="1" dirty="0">
                <a:solidFill>
                  <a:srgbClr val="FF0000"/>
                </a:solidFill>
              </a:rPr>
              <a:t>注意</a:t>
            </a:r>
            <a:r>
              <a:rPr lang="zh-TW" altLang="en-US" b="1" dirty="0" smtClean="0">
                <a:solidFill>
                  <a:srgbClr val="FF0000"/>
                </a:solidFill>
              </a:rPr>
              <a:t>！需要使用英文</a:t>
            </a:r>
            <a:r>
              <a:rPr lang="en-US" altLang="zh-TW" b="1" dirty="0" smtClean="0">
                <a:solidFill>
                  <a:srgbClr val="FF0000"/>
                </a:solidFill>
              </a:rPr>
              <a:t>!</a:t>
            </a:r>
          </a:p>
        </p:txBody>
      </p:sp>
    </p:spTree>
    <p:extLst>
      <p:ext uri="{BB962C8B-B14F-4D97-AF65-F5344CB8AC3E}">
        <p14:creationId xmlns:p14="http://schemas.microsoft.com/office/powerpoint/2010/main" val="2079301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43CA0-0EAA-A333-2535-0934732A5D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0F505326-6819-D42E-2E4C-9DAEEFA39B9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標題 3">
            <a:extLst>
              <a:ext uri="{FF2B5EF4-FFF2-40B4-BE49-F238E27FC236}">
                <a16:creationId xmlns:a16="http://schemas.microsoft.com/office/drawing/2014/main" id="{667C027A-3DBE-E879-09D5-E3ECC1869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/>
              <a:t>換臉</a:t>
            </a:r>
          </a:p>
        </p:txBody>
      </p:sp>
      <p:pic>
        <p:nvPicPr>
          <p:cNvPr id="5" name="視訊 2">
            <a:hlinkClick r:id="" action="ppaction://media"/>
            <a:extLst>
              <a:ext uri="{FF2B5EF4-FFF2-40B4-BE49-F238E27FC236}">
                <a16:creationId xmlns:a16="http://schemas.microsoft.com/office/drawing/2014/main" id="{D639D7C9-E36D-01B5-C23F-84B7C0FE903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419868" y="1278194"/>
            <a:ext cx="4797592" cy="5099587"/>
          </a:xfrm>
          <a:prstGeom prst="rect">
            <a:avLst/>
          </a:prstGeom>
        </p:spPr>
      </p:pic>
      <p:sp>
        <p:nvSpPr>
          <p:cNvPr id="6" name="文字方塊 5">
            <a:extLst>
              <a:ext uri="{FF2B5EF4-FFF2-40B4-BE49-F238E27FC236}">
                <a16:creationId xmlns:a16="http://schemas.microsoft.com/office/drawing/2014/main" id="{F005E7EE-06A5-4AC4-62AC-50EA1AA072E8}"/>
              </a:ext>
            </a:extLst>
          </p:cNvPr>
          <p:cNvSpPr txBox="1"/>
          <p:nvPr/>
        </p:nvSpPr>
        <p:spPr>
          <a:xfrm>
            <a:off x="5361762" y="6159717"/>
            <a:ext cx="668593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hlinkClick r:id="rId6"/>
              </a:rPr>
              <a:t>資料來源：</a:t>
            </a:r>
            <a:r>
              <a:rPr lang="en-US" altLang="zh-TW" dirty="0">
                <a:hlinkClick r:id="rId6"/>
              </a:rPr>
              <a:t>6 </a:t>
            </a:r>
            <a:r>
              <a:rPr lang="zh-TW" altLang="en-US" dirty="0">
                <a:hlinkClick r:id="rId6"/>
              </a:rPr>
              <a:t>款 </a:t>
            </a:r>
            <a:r>
              <a:rPr lang="en-US" altLang="zh-TW" dirty="0">
                <a:hlinkClick r:id="rId6"/>
              </a:rPr>
              <a:t>AI </a:t>
            </a:r>
            <a:r>
              <a:rPr lang="zh-TW" altLang="en-US" dirty="0">
                <a:hlinkClick r:id="rId6"/>
              </a:rPr>
              <a:t>換臉</a:t>
            </a:r>
            <a:r>
              <a:rPr lang="en-US" altLang="zh-TW" dirty="0">
                <a:hlinkClick r:id="rId6"/>
              </a:rPr>
              <a:t>App</a:t>
            </a:r>
            <a:r>
              <a:rPr lang="zh-TW" altLang="en-US" dirty="0">
                <a:hlinkClick r:id="rId6"/>
              </a:rPr>
              <a:t>、免費線上 </a:t>
            </a:r>
            <a:r>
              <a:rPr lang="en-US" altLang="zh-TW" dirty="0">
                <a:hlinkClick r:id="rId6"/>
              </a:rPr>
              <a:t>AI </a:t>
            </a:r>
            <a:r>
              <a:rPr lang="zh-TW" altLang="en-US" dirty="0">
                <a:hlinkClick r:id="rId6"/>
              </a:rPr>
              <a:t>換臉推薦，照片換臉好輕鬆！</a:t>
            </a:r>
            <a:endParaRPr lang="zh-TW" altLang="en-US" dirty="0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6C3FE77C-5148-5756-C0E8-25F3B6DAFD5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17460" y="1356941"/>
            <a:ext cx="6685936" cy="44572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8774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506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 mute="1">
                <p:cTn id="7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D5A5E9-254F-4C41-574C-C63FE8F74C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C808EB23-5CFC-0076-C8C8-C99BF814A00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標題 3">
            <a:extLst>
              <a:ext uri="{FF2B5EF4-FFF2-40B4-BE49-F238E27FC236}">
                <a16:creationId xmlns:a16="http://schemas.microsoft.com/office/drawing/2014/main" id="{57884308-9818-DE86-32E9-C160469C00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知名事件</a:t>
            </a:r>
            <a:r>
              <a:rPr lang="en-US" altLang="zh-TW" dirty="0"/>
              <a:t>-</a:t>
            </a:r>
            <a:r>
              <a:rPr lang="zh-TW" altLang="en-US" dirty="0"/>
              <a:t>小玉換臉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3A5B43D-C955-478E-BCDE-8BC73B46AB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200" y="1690688"/>
            <a:ext cx="8284378" cy="4560592"/>
          </a:xfrm>
          <a:prstGeom prst="rect">
            <a:avLst/>
          </a:prstGeom>
        </p:spPr>
      </p:pic>
      <p:sp>
        <p:nvSpPr>
          <p:cNvPr id="8" name="文字方塊 7">
            <a:extLst>
              <a:ext uri="{FF2B5EF4-FFF2-40B4-BE49-F238E27FC236}">
                <a16:creationId xmlns:a16="http://schemas.microsoft.com/office/drawing/2014/main" id="{5308CEE2-9C3B-CEA4-92CC-D5D89B261DF1}"/>
              </a:ext>
            </a:extLst>
          </p:cNvPr>
          <p:cNvSpPr txBox="1"/>
          <p:nvPr/>
        </p:nvSpPr>
        <p:spPr>
          <a:xfrm>
            <a:off x="8739912" y="1594148"/>
            <a:ext cx="321514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dirty="0">
                <a:hlinkClick r:id="rId4"/>
              </a:rPr>
              <a:t>小玉賣換臉謎片削千萬害慘一堆人 高院改判關</a:t>
            </a:r>
            <a:r>
              <a:rPr lang="en-US" altLang="zh-TW" dirty="0">
                <a:hlinkClick r:id="rId4"/>
              </a:rPr>
              <a:t>5</a:t>
            </a:r>
            <a:r>
              <a:rPr lang="zh-TW" altLang="en-US" dirty="0">
                <a:hlinkClick r:id="rId4"/>
              </a:rPr>
              <a:t>年原因揭曉 </a:t>
            </a:r>
            <a:r>
              <a:rPr lang="en-US" altLang="zh-TW" dirty="0">
                <a:hlinkClick r:id="rId4"/>
              </a:rPr>
              <a:t>| </a:t>
            </a:r>
            <a:r>
              <a:rPr lang="zh-TW" altLang="en-US" dirty="0">
                <a:hlinkClick r:id="rId4"/>
              </a:rPr>
              <a:t>司法 </a:t>
            </a:r>
            <a:r>
              <a:rPr lang="en-US" altLang="zh-TW" dirty="0">
                <a:hlinkClick r:id="rId4"/>
              </a:rPr>
              <a:t>- </a:t>
            </a:r>
            <a:r>
              <a:rPr lang="zh-TW" altLang="en-US" dirty="0">
                <a:hlinkClick r:id="rId4"/>
              </a:rPr>
              <a:t>太報 </a:t>
            </a:r>
            <a:r>
              <a:rPr lang="en-US" altLang="zh-TW" dirty="0" err="1">
                <a:hlinkClick r:id="rId4"/>
              </a:rPr>
              <a:t>TaiSounds</a:t>
            </a:r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716F5B28-D15F-2D07-5A0F-D69DB81F3DD4}"/>
              </a:ext>
            </a:extLst>
          </p:cNvPr>
          <p:cNvSpPr txBox="1"/>
          <p:nvPr/>
        </p:nvSpPr>
        <p:spPr>
          <a:xfrm>
            <a:off x="8505650" y="3981956"/>
            <a:ext cx="385327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>
                <a:solidFill>
                  <a:srgbClr val="FF0000"/>
                </a:solidFill>
              </a:rPr>
              <a:t>小心受到法律責任</a:t>
            </a:r>
            <a:r>
              <a:rPr lang="en-US" altLang="zh-TW" sz="3200" dirty="0">
                <a:solidFill>
                  <a:srgbClr val="FF0000"/>
                </a:solidFill>
              </a:rPr>
              <a:t>!!</a:t>
            </a:r>
            <a:endParaRPr lang="zh-TW" altLang="en-US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15857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361202-0DA3-4843-91CE-DAE19A1B1E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2A19A09F-ECBD-3AD4-C53F-2A2EAC5F8AF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標題 3">
            <a:extLst>
              <a:ext uri="{FF2B5EF4-FFF2-40B4-BE49-F238E27FC236}">
                <a16:creationId xmlns:a16="http://schemas.microsoft.com/office/drawing/2014/main" id="{E82EF794-DE10-E17A-F590-4409013EB8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zh-TW" altLang="en-US" dirty="0"/>
              <a:t>作業</a:t>
            </a: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CD48C898-0887-0A42-B80C-D73063020389}"/>
              </a:ext>
            </a:extLst>
          </p:cNvPr>
          <p:cNvSpPr txBox="1"/>
          <p:nvPr/>
        </p:nvSpPr>
        <p:spPr>
          <a:xfrm>
            <a:off x="838200" y="1175108"/>
            <a:ext cx="1051560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2000" b="1" dirty="0">
                <a:solidFill>
                  <a:srgbClr val="002060"/>
                </a:solidFill>
              </a:rPr>
              <a:t>1.</a:t>
            </a:r>
            <a:r>
              <a:rPr lang="zh-TW" altLang="en-US" sz="2000" b="1" dirty="0" smtClean="0">
                <a:solidFill>
                  <a:srgbClr val="002060"/>
                </a:solidFill>
              </a:rPr>
              <a:t>利用</a:t>
            </a:r>
            <a:r>
              <a:rPr lang="en-US" altLang="zh-TW" sz="2000" b="1" dirty="0" err="1">
                <a:solidFill>
                  <a:srgbClr val="002060"/>
                </a:solidFill>
              </a:rPr>
              <a:t>Fooocus</a:t>
            </a:r>
            <a:r>
              <a:rPr lang="zh-TW" altLang="en-US" sz="2000" b="1" dirty="0" smtClean="0">
                <a:solidFill>
                  <a:srgbClr val="002060"/>
                </a:solidFill>
              </a:rPr>
              <a:t>做</a:t>
            </a:r>
            <a:r>
              <a:rPr lang="zh-TW" altLang="en-US" sz="2000" b="1" dirty="0">
                <a:solidFill>
                  <a:srgbClr val="002060"/>
                </a:solidFill>
              </a:rPr>
              <a:t>一個自己與同伴換臉的照片</a:t>
            </a:r>
            <a:endParaRPr lang="en-US" altLang="zh-TW" sz="2000" b="1" dirty="0">
              <a:solidFill>
                <a:srgbClr val="002060"/>
              </a:solidFill>
            </a:endParaRPr>
          </a:p>
          <a:p>
            <a:r>
              <a:rPr lang="en-US" altLang="zh-TW" sz="2000" b="1" dirty="0">
                <a:solidFill>
                  <a:srgbClr val="002060"/>
                </a:solidFill>
              </a:rPr>
              <a:t>2.</a:t>
            </a:r>
            <a:r>
              <a:rPr lang="zh-TW" altLang="en-US" sz="2000" b="1" dirty="0" smtClean="0">
                <a:solidFill>
                  <a:srgbClr val="002060"/>
                </a:solidFill>
              </a:rPr>
              <a:t>利用</a:t>
            </a:r>
            <a:r>
              <a:rPr lang="en-US" altLang="zh-TW" sz="2000" b="1" dirty="0" err="1">
                <a:solidFill>
                  <a:srgbClr val="002060"/>
                </a:solidFill>
              </a:rPr>
              <a:t>Fooocus</a:t>
            </a:r>
            <a:r>
              <a:rPr lang="zh-TW" altLang="en-US" sz="2000" b="1" dirty="0" smtClean="0">
                <a:solidFill>
                  <a:srgbClr val="002060"/>
                </a:solidFill>
              </a:rPr>
              <a:t>生成</a:t>
            </a:r>
            <a:r>
              <a:rPr lang="zh-TW" altLang="en-US" sz="2000" b="1" dirty="0">
                <a:solidFill>
                  <a:srgbClr val="002060"/>
                </a:solidFill>
              </a:rPr>
              <a:t>一張虛擬照片以及虛擬</a:t>
            </a:r>
            <a:r>
              <a:rPr lang="zh-TW" altLang="en-US" sz="2000" b="1" dirty="0">
                <a:solidFill>
                  <a:srgbClr val="002060"/>
                </a:solidFill>
              </a:rPr>
              <a:t>動物</a:t>
            </a:r>
            <a:r>
              <a:rPr lang="en-US" altLang="zh-TW" sz="2000" b="1" dirty="0">
                <a:solidFill>
                  <a:srgbClr val="002060"/>
                </a:solidFill>
              </a:rPr>
              <a:t>(</a:t>
            </a:r>
            <a:r>
              <a:rPr lang="zh-TW" altLang="en-US" sz="2000" b="1" dirty="0">
                <a:solidFill>
                  <a:srgbClr val="002060"/>
                </a:solidFill>
              </a:rPr>
              <a:t>用不同模型生成</a:t>
            </a:r>
            <a:r>
              <a:rPr lang="en-US" altLang="zh-TW" sz="2000" b="1" dirty="0">
                <a:solidFill>
                  <a:srgbClr val="002060"/>
                </a:solidFill>
              </a:rPr>
              <a:t>)</a:t>
            </a:r>
          </a:p>
          <a:p>
            <a:r>
              <a:rPr lang="en-US" altLang="zh-TW" sz="2000" b="1" dirty="0" smtClean="0">
                <a:solidFill>
                  <a:srgbClr val="002060"/>
                </a:solidFill>
              </a:rPr>
              <a:t>3.</a:t>
            </a:r>
            <a:r>
              <a:rPr lang="zh-TW" altLang="en-US" sz="2000" b="1" dirty="0" smtClean="0">
                <a:solidFill>
                  <a:srgbClr val="002060"/>
                </a:solidFill>
              </a:rPr>
              <a:t>利用</a:t>
            </a:r>
            <a:r>
              <a:rPr lang="en-US" altLang="zh-TW" sz="2000" b="1" dirty="0" err="1" smtClean="0">
                <a:solidFill>
                  <a:srgbClr val="002060"/>
                </a:solidFill>
              </a:rPr>
              <a:t>Fooocus</a:t>
            </a:r>
            <a:r>
              <a:rPr lang="zh-TW" altLang="en-US" sz="2000" b="1" dirty="0" smtClean="0">
                <a:solidFill>
                  <a:srgbClr val="002060"/>
                </a:solidFill>
              </a:rPr>
              <a:t>生成三個特殊目的的圖樣：</a:t>
            </a:r>
          </a:p>
          <a:p>
            <a:r>
              <a:rPr lang="zh-TW" altLang="en-US" sz="2000" dirty="0" smtClean="0">
                <a:solidFill>
                  <a:srgbClr val="002060"/>
                </a:solidFill>
              </a:rPr>
              <a:t>例如：</a:t>
            </a:r>
          </a:p>
          <a:p>
            <a:r>
              <a:rPr lang="zh-TW" altLang="en-US" sz="2000" dirty="0" smtClean="0">
                <a:solidFill>
                  <a:srgbClr val="002060"/>
                </a:solidFill>
              </a:rPr>
              <a:t>投影片</a:t>
            </a:r>
            <a:r>
              <a:rPr lang="zh-TW" altLang="en-US" sz="2000" dirty="0">
                <a:solidFill>
                  <a:srgbClr val="002060"/>
                </a:solidFill>
              </a:rPr>
              <a:t>的附圖</a:t>
            </a:r>
          </a:p>
          <a:p>
            <a:r>
              <a:rPr lang="zh-TW" altLang="en-US" sz="2000" dirty="0">
                <a:solidFill>
                  <a:srgbClr val="002060"/>
                </a:solidFill>
              </a:rPr>
              <a:t>自己訂定的商品商標</a:t>
            </a:r>
          </a:p>
          <a:p>
            <a:r>
              <a:rPr lang="zh-TW" altLang="en-US" sz="2000" dirty="0">
                <a:solidFill>
                  <a:srgbClr val="002060"/>
                </a:solidFill>
              </a:rPr>
              <a:t>個⼈品牌圖像，等等</a:t>
            </a:r>
            <a:r>
              <a:rPr lang="en-US" altLang="zh-TW" sz="2000" dirty="0">
                <a:solidFill>
                  <a:srgbClr val="002060"/>
                </a:solidFill>
              </a:rPr>
              <a:t>…</a:t>
            </a:r>
          </a:p>
          <a:p>
            <a:r>
              <a:rPr lang="zh-TW" altLang="en-US" sz="2000" dirty="0">
                <a:solidFill>
                  <a:srgbClr val="002060"/>
                </a:solidFill>
              </a:rPr>
              <a:t>為每張圖撰寫簡短說明，包括：</a:t>
            </a:r>
          </a:p>
          <a:p>
            <a:r>
              <a:rPr lang="zh-TW" altLang="en-US" sz="2000" dirty="0">
                <a:solidFill>
                  <a:srgbClr val="002060"/>
                </a:solidFill>
              </a:rPr>
              <a:t>使⽤了哪些 </a:t>
            </a:r>
            <a:r>
              <a:rPr lang="en-US" altLang="zh-TW" sz="2000" dirty="0" err="1">
                <a:solidFill>
                  <a:srgbClr val="002060"/>
                </a:solidFill>
              </a:rPr>
              <a:t>Fooocus</a:t>
            </a:r>
            <a:r>
              <a:rPr lang="en-US" altLang="zh-TW" sz="2000" dirty="0">
                <a:solidFill>
                  <a:srgbClr val="002060"/>
                </a:solidFill>
              </a:rPr>
              <a:t> </a:t>
            </a:r>
            <a:r>
              <a:rPr lang="zh-TW" altLang="en-US" sz="2000" dirty="0">
                <a:solidFill>
                  <a:srgbClr val="002060"/>
                </a:solidFill>
              </a:rPr>
              <a:t>功能（如 </a:t>
            </a:r>
            <a:r>
              <a:rPr lang="en-US" altLang="zh-TW" sz="2000" dirty="0">
                <a:solidFill>
                  <a:srgbClr val="002060"/>
                </a:solidFill>
              </a:rPr>
              <a:t>prompt </a:t>
            </a:r>
            <a:r>
              <a:rPr lang="zh-TW" altLang="en-US" sz="2000" dirty="0">
                <a:solidFill>
                  <a:srgbClr val="002060"/>
                </a:solidFill>
              </a:rPr>
              <a:t>設定、</a:t>
            </a:r>
            <a:r>
              <a:rPr lang="en-US" altLang="zh-TW" sz="2000" dirty="0">
                <a:solidFill>
                  <a:srgbClr val="002060"/>
                </a:solidFill>
              </a:rPr>
              <a:t>Style</a:t>
            </a:r>
            <a:r>
              <a:rPr lang="zh-TW" altLang="en-US" sz="2000" dirty="0">
                <a:solidFill>
                  <a:srgbClr val="002060"/>
                </a:solidFill>
              </a:rPr>
              <a:t>、</a:t>
            </a:r>
            <a:r>
              <a:rPr lang="en-US" altLang="zh-TW" sz="2000" dirty="0" err="1">
                <a:solidFill>
                  <a:srgbClr val="002060"/>
                </a:solidFill>
              </a:rPr>
              <a:t>Inpaint</a:t>
            </a:r>
            <a:r>
              <a:rPr lang="zh-TW" altLang="en-US" sz="2000" dirty="0">
                <a:solidFill>
                  <a:srgbClr val="002060"/>
                </a:solidFill>
              </a:rPr>
              <a:t>、</a:t>
            </a:r>
            <a:r>
              <a:rPr lang="en-US" altLang="zh-TW" sz="2000" dirty="0">
                <a:solidFill>
                  <a:srgbClr val="002060"/>
                </a:solidFill>
              </a:rPr>
              <a:t>Canny </a:t>
            </a:r>
            <a:r>
              <a:rPr lang="zh-TW" altLang="en-US" sz="2000" dirty="0">
                <a:solidFill>
                  <a:srgbClr val="002060"/>
                </a:solidFill>
              </a:rPr>
              <a:t>等）</a:t>
            </a:r>
          </a:p>
          <a:p>
            <a:r>
              <a:rPr lang="zh-TW" altLang="en-US" sz="2000" dirty="0">
                <a:solidFill>
                  <a:srgbClr val="002060"/>
                </a:solidFill>
              </a:rPr>
              <a:t>有什麼⼼得？</a:t>
            </a:r>
          </a:p>
          <a:p>
            <a:r>
              <a:rPr lang="zh-TW" altLang="en-US" sz="2000" dirty="0">
                <a:solidFill>
                  <a:srgbClr val="002060"/>
                </a:solidFill>
              </a:rPr>
              <a:t>簡要整理你建⽴的創作流程（⽂字敘述或流程圖均可），讓別的同學能了解你從靈感、設定、試圖改善到輸出圖⽚的步驟。</a:t>
            </a:r>
          </a:p>
          <a:p>
            <a:endParaRPr lang="zh-TW" altLang="en-US" sz="3200" dirty="0">
              <a:solidFill>
                <a:schemeClr val="accent1"/>
              </a:solidFill>
            </a:endParaRP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41D4C2A5-3838-1436-A2B8-891D75F3E1CB}"/>
              </a:ext>
            </a:extLst>
          </p:cNvPr>
          <p:cNvSpPr txBox="1"/>
          <p:nvPr/>
        </p:nvSpPr>
        <p:spPr>
          <a:xfrm>
            <a:off x="3862121" y="5297169"/>
            <a:ext cx="480365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2400" dirty="0">
                <a:solidFill>
                  <a:srgbClr val="FF0000"/>
                </a:solidFill>
              </a:rPr>
              <a:t>注意注意</a:t>
            </a:r>
            <a:r>
              <a:rPr lang="en-US" altLang="zh-TW" sz="2400" dirty="0">
                <a:solidFill>
                  <a:srgbClr val="FF0000"/>
                </a:solidFill>
              </a:rPr>
              <a:t>!</a:t>
            </a:r>
          </a:p>
          <a:p>
            <a:r>
              <a:rPr lang="zh-TW" altLang="en-US" sz="2400" dirty="0">
                <a:solidFill>
                  <a:srgbClr val="FF0000"/>
                </a:solidFill>
              </a:rPr>
              <a:t>可使用</a:t>
            </a:r>
            <a:r>
              <a:rPr lang="en-US" altLang="zh-TW" sz="2400" dirty="0">
                <a:solidFill>
                  <a:srgbClr val="FF0000"/>
                </a:solidFill>
              </a:rPr>
              <a:t>word or PDF</a:t>
            </a:r>
            <a:r>
              <a:rPr lang="zh-TW" altLang="en-US" sz="2400" dirty="0">
                <a:solidFill>
                  <a:srgbClr val="FF0000"/>
                </a:solidFill>
              </a:rPr>
              <a:t>，以截圖方式放，但是要放上你所寫的提示字元</a:t>
            </a:r>
          </a:p>
        </p:txBody>
      </p:sp>
    </p:spTree>
    <p:extLst>
      <p:ext uri="{BB962C8B-B14F-4D97-AF65-F5344CB8AC3E}">
        <p14:creationId xmlns:p14="http://schemas.microsoft.com/office/powerpoint/2010/main" val="13250345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</TotalTime>
  <Words>779</Words>
  <Application>Microsoft Office PowerPoint</Application>
  <PresentationFormat>寬螢幕</PresentationFormat>
  <Paragraphs>62</Paragraphs>
  <Slides>10</Slides>
  <Notes>0</Notes>
  <HiddenSlides>0</HiddenSlides>
  <MMClips>1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10</vt:i4>
      </vt:variant>
    </vt:vector>
  </HeadingPairs>
  <TitlesOfParts>
    <vt:vector size="15" baseType="lpstr">
      <vt:lpstr>新細明體</vt:lpstr>
      <vt:lpstr>Arial</vt:lpstr>
      <vt:lpstr>Calibri</vt:lpstr>
      <vt:lpstr>Calibri Light</vt:lpstr>
      <vt:lpstr>Office 佈景主題</vt:lpstr>
      <vt:lpstr>假如我是B卡索</vt:lpstr>
      <vt:lpstr>從圖片生成到用AI寫程式 OpenAI剖析創作與程式開發的未來</vt:lpstr>
      <vt:lpstr>那麼，文字要如何生成圖片？</vt:lpstr>
      <vt:lpstr>先從初始圖找出輪廓，再慢慢的像著色一樣填補內容（加上噪點）</vt:lpstr>
      <vt:lpstr>Fooocus是甚麼?</vt:lpstr>
      <vt:lpstr>怎麼生成影像?</vt:lpstr>
      <vt:lpstr>提示字元是甚麼?</vt:lpstr>
      <vt:lpstr>換臉</vt:lpstr>
      <vt:lpstr>知名事件-小玉換臉</vt:lpstr>
      <vt:lpstr>作業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AI合成影像：從生成到換臉</dc:title>
  <dc:creator>電 華</dc:creator>
  <cp:lastModifiedBy>Candy</cp:lastModifiedBy>
  <cp:revision>10</cp:revision>
  <dcterms:created xsi:type="dcterms:W3CDTF">2025-07-08T09:31:46Z</dcterms:created>
  <dcterms:modified xsi:type="dcterms:W3CDTF">2025-07-10T04:05:23Z</dcterms:modified>
</cp:coreProperties>
</file>